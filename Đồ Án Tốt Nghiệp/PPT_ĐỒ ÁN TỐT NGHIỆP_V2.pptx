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6.svg" ContentType="image/svg+xml"/>
  <Override PartName="/ppt/media/image109.svg" ContentType="image/svg+xml"/>
  <Override PartName="/ppt/media/image11.svg" ContentType="image/svg+xml"/>
  <Override PartName="/ppt/media/image112.svg" ContentType="image/svg+xml"/>
  <Override PartName="/ppt/media/image115.svg" ContentType="image/svg+xml"/>
  <Override PartName="/ppt/media/image118.svg" ContentType="image/svg+xml"/>
  <Override PartName="/ppt/media/image122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8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2.svg" ContentType="image/svg+xml"/>
  <Override PartName="/ppt/media/image94.svg" ContentType="image/svg+xml"/>
  <Override PartName="/ppt/media/image97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77" r:id="rId30"/>
    <p:sldId id="260" r:id="rId10"/>
    <p:sldId id="261" r:id="rId11"/>
    <p:sldId id="262" r:id="rId12"/>
    <p:sldId id="263" r:id="rId13"/>
    <p:sldId id="265" r:id="rId15"/>
    <p:sldId id="278" r:id="rId31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mbria Bold" charset="1" panose="02040803050406030204"/>
      <p:regular r:id="rId27"/>
    </p:embeddedFont>
    <p:embeddedFont>
      <p:font typeface="Cambria" charset="1" panose="02040503050406030204"/>
      <p:regular r:id="rId28"/>
    </p:embeddedFont>
    <p:embeddedFont>
      <p:font typeface="Times New Roman Bold" charset="1" panose="020208030705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slide" Target="slides/slide5.xml"/><Relationship Id="rId31" Type="http://schemas.openxmlformats.org/officeDocument/2006/relationships/slide" Target="slides/slide11.xml"/><Relationship Id="rId32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image" Target="../media/image20.png"/><Relationship Id="rId22" Type="http://schemas.openxmlformats.org/officeDocument/2006/relationships/image" Target="../media/image21.svg"/><Relationship Id="rId23" Type="http://schemas.openxmlformats.org/officeDocument/2006/relationships/image" Target="../media/image22.png"/><Relationship Id="rId24" Type="http://schemas.openxmlformats.org/officeDocument/2006/relationships/image" Target="../media/image23.svg"/><Relationship Id="rId25" Type="http://schemas.openxmlformats.org/officeDocument/2006/relationships/image" Target="../media/image24.png"/><Relationship Id="rId26" Type="http://schemas.openxmlformats.org/officeDocument/2006/relationships/image" Target="../media/image25.svg"/><Relationship Id="rId27" Type="http://schemas.openxmlformats.org/officeDocument/2006/relationships/image" Target="../media/image26.png"/><Relationship Id="rId28" Type="http://schemas.openxmlformats.org/officeDocument/2006/relationships/image" Target="../media/image27.sv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33.jpe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svg"/><Relationship Id="rId15" Type="http://schemas.openxmlformats.org/officeDocument/2006/relationships/image" Target="../media/image31.pn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svg"/><Relationship Id="rId21" Type="http://schemas.openxmlformats.org/officeDocument/2006/relationships/image" Target="../media/image38.png"/><Relationship Id="rId22" Type="http://schemas.openxmlformats.org/officeDocument/2006/relationships/image" Target="../media/image39.svg"/><Relationship Id="rId23" Type="http://schemas.openxmlformats.org/officeDocument/2006/relationships/image" Target="../media/image40.png"/><Relationship Id="rId24" Type="http://schemas.openxmlformats.org/officeDocument/2006/relationships/image" Target="../media/image41.svg"/><Relationship Id="rId25" Type="http://schemas.openxmlformats.org/officeDocument/2006/relationships/image" Target="../media/image42.png"/><Relationship Id="rId26" Type="http://schemas.openxmlformats.org/officeDocument/2006/relationships/image" Target="../media/image4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44.png"/><Relationship Id="rId15" Type="http://schemas.openxmlformats.org/officeDocument/2006/relationships/image" Target="../media/image45.svg"/><Relationship Id="rId16" Type="http://schemas.openxmlformats.org/officeDocument/2006/relationships/image" Target="../media/image46.jpeg"/><Relationship Id="rId17" Type="http://schemas.openxmlformats.org/officeDocument/2006/relationships/image" Target="../media/image47.png"/><Relationship Id="rId18" Type="http://schemas.openxmlformats.org/officeDocument/2006/relationships/image" Target="../media/image48.svg"/><Relationship Id="rId19" Type="http://schemas.openxmlformats.org/officeDocument/2006/relationships/image" Target="../media/image49.png"/><Relationship Id="rId20" Type="http://schemas.openxmlformats.org/officeDocument/2006/relationships/image" Target="../media/image50.svg"/><Relationship Id="rId21" Type="http://schemas.openxmlformats.org/officeDocument/2006/relationships/image" Target="../media/image51.png"/><Relationship Id="rId22" Type="http://schemas.openxmlformats.org/officeDocument/2006/relationships/image" Target="../media/image52.svg"/><Relationship Id="rId23" Type="http://schemas.openxmlformats.org/officeDocument/2006/relationships/image" Target="../media/image53.png"/><Relationship Id="rId24" Type="http://schemas.openxmlformats.org/officeDocument/2006/relationships/image" Target="../media/image54.svg"/><Relationship Id="rId25" Type="http://schemas.openxmlformats.org/officeDocument/2006/relationships/image" Target="../media/image55.png"/><Relationship Id="rId26" Type="http://schemas.openxmlformats.org/officeDocument/2006/relationships/image" Target="../media/image56.svg"/><Relationship Id="rId27" Type="http://schemas.openxmlformats.org/officeDocument/2006/relationships/image" Target="../media/image57.png"/><Relationship Id="rId28" Type="http://schemas.openxmlformats.org/officeDocument/2006/relationships/image" Target="../media/image58.svg"/><Relationship Id="rId29" Type="http://schemas.openxmlformats.org/officeDocument/2006/relationships/image" Target="../media/image59.png"/><Relationship Id="rId30" Type="http://schemas.openxmlformats.org/officeDocument/2006/relationships/image" Target="../media/image60.svg"/><Relationship Id="rId31" Type="http://schemas.openxmlformats.org/officeDocument/2006/relationships/image" Target="../media/image24.png"/><Relationship Id="rId32" Type="http://schemas.openxmlformats.org/officeDocument/2006/relationships/image" Target="../media/image25.svg"/><Relationship Id="rId33" Type="http://schemas.openxmlformats.org/officeDocument/2006/relationships/image" Target="../media/image26.png"/><Relationship Id="rId34" Type="http://schemas.openxmlformats.org/officeDocument/2006/relationships/image" Target="../media/image27.svg"/><Relationship Id="rId35" Type="http://schemas.openxmlformats.org/officeDocument/2006/relationships/image" Target="../media/image28.png"/><Relationship Id="rId36" Type="http://schemas.openxmlformats.org/officeDocument/2006/relationships/image" Target="../media/image29.png"/><Relationship Id="rId37" Type="http://schemas.openxmlformats.org/officeDocument/2006/relationships/image" Target="../media/image30.svg"/><Relationship Id="rId38" Type="http://schemas.openxmlformats.org/officeDocument/2006/relationships/image" Target="../media/image31.png"/><Relationship Id="rId39" Type="http://schemas.openxmlformats.org/officeDocument/2006/relationships/image" Target="../media/image42.png"/><Relationship Id="rId40" Type="http://schemas.openxmlformats.org/officeDocument/2006/relationships/image" Target="../media/image4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63.png"/><Relationship Id="rId10" Type="http://schemas.openxmlformats.org/officeDocument/2006/relationships/image" Target="../media/image64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57.png"/><Relationship Id="rId14" Type="http://schemas.openxmlformats.org/officeDocument/2006/relationships/image" Target="../media/image58.sv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svg"/><Relationship Id="rId20" Type="http://schemas.openxmlformats.org/officeDocument/2006/relationships/image" Target="../media/image31.png"/><Relationship Id="rId21" Type="http://schemas.openxmlformats.org/officeDocument/2006/relationships/image" Target="../media/image67.png"/><Relationship Id="rId22" Type="http://schemas.openxmlformats.org/officeDocument/2006/relationships/image" Target="../media/image6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9.jpe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16.png"/><Relationship Id="rId14" Type="http://schemas.openxmlformats.org/officeDocument/2006/relationships/image" Target="../media/image17.svg"/><Relationship Id="rId15" Type="http://schemas.openxmlformats.org/officeDocument/2006/relationships/image" Target="../media/image70.png"/><Relationship Id="rId16" Type="http://schemas.openxmlformats.org/officeDocument/2006/relationships/image" Target="../media/image71.svg"/><Relationship Id="rId17" Type="http://schemas.openxmlformats.org/officeDocument/2006/relationships/image" Target="../media/image72.png"/><Relationship Id="rId18" Type="http://schemas.openxmlformats.org/officeDocument/2006/relationships/image" Target="../media/image73.svg"/><Relationship Id="rId19" Type="http://schemas.openxmlformats.org/officeDocument/2006/relationships/image" Target="../media/image74.png"/><Relationship Id="rId20" Type="http://schemas.openxmlformats.org/officeDocument/2006/relationships/image" Target="../media/image75.svg"/><Relationship Id="rId21" Type="http://schemas.openxmlformats.org/officeDocument/2006/relationships/image" Target="../media/image76.png"/><Relationship Id="rId22" Type="http://schemas.openxmlformats.org/officeDocument/2006/relationships/image" Target="../media/image77.svg"/><Relationship Id="rId23" Type="http://schemas.openxmlformats.org/officeDocument/2006/relationships/image" Target="../media/image78.png"/><Relationship Id="rId24" Type="http://schemas.openxmlformats.org/officeDocument/2006/relationships/image" Target="../media/image79.svg"/><Relationship Id="rId25" Type="http://schemas.openxmlformats.org/officeDocument/2006/relationships/image" Target="../media/image80.png"/><Relationship Id="rId26" Type="http://schemas.openxmlformats.org/officeDocument/2006/relationships/image" Target="../media/image81.svg"/><Relationship Id="rId27" Type="http://schemas.openxmlformats.org/officeDocument/2006/relationships/image" Target="../media/image42.png"/><Relationship Id="rId28" Type="http://schemas.openxmlformats.org/officeDocument/2006/relationships/image" Target="../media/image43.svg"/><Relationship Id="rId29" Type="http://schemas.openxmlformats.org/officeDocument/2006/relationships/image" Target="../media/image53.png"/><Relationship Id="rId30" Type="http://schemas.openxmlformats.org/officeDocument/2006/relationships/image" Target="../media/image54.svg"/><Relationship Id="rId31" Type="http://schemas.openxmlformats.org/officeDocument/2006/relationships/image" Target="../media/image55.png"/><Relationship Id="rId32" Type="http://schemas.openxmlformats.org/officeDocument/2006/relationships/image" Target="../media/image56.svg"/><Relationship Id="rId33" Type="http://schemas.openxmlformats.org/officeDocument/2006/relationships/image" Target="../media/image24.png"/><Relationship Id="rId34" Type="http://schemas.openxmlformats.org/officeDocument/2006/relationships/image" Target="../media/image25.svg"/><Relationship Id="rId35" Type="http://schemas.openxmlformats.org/officeDocument/2006/relationships/image" Target="../media/image26.png"/><Relationship Id="rId36" Type="http://schemas.openxmlformats.org/officeDocument/2006/relationships/image" Target="../media/image27.svg"/><Relationship Id="rId37" Type="http://schemas.openxmlformats.org/officeDocument/2006/relationships/image" Target="../media/image28.png"/><Relationship Id="rId38" Type="http://schemas.openxmlformats.org/officeDocument/2006/relationships/image" Target="../media/image29.png"/><Relationship Id="rId39" Type="http://schemas.openxmlformats.org/officeDocument/2006/relationships/image" Target="../media/image30.svg"/><Relationship Id="rId40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53.png"/><Relationship Id="rId6" Type="http://schemas.openxmlformats.org/officeDocument/2006/relationships/image" Target="../media/image54.svg"/><Relationship Id="rId7" Type="http://schemas.openxmlformats.org/officeDocument/2006/relationships/image" Target="../media/image59.png"/><Relationship Id="rId8" Type="http://schemas.openxmlformats.org/officeDocument/2006/relationships/image" Target="../media/image60.svg"/><Relationship Id="rId9" Type="http://schemas.openxmlformats.org/officeDocument/2006/relationships/image" Target="../media/image84.png"/><Relationship Id="rId10" Type="http://schemas.openxmlformats.org/officeDocument/2006/relationships/image" Target="../media/image85.svg"/><Relationship Id="rId11" Type="http://schemas.openxmlformats.org/officeDocument/2006/relationships/image" Target="../media/image86.png"/><Relationship Id="rId12" Type="http://schemas.openxmlformats.org/officeDocument/2006/relationships/image" Target="../media/image87.svg"/><Relationship Id="rId13" Type="http://schemas.openxmlformats.org/officeDocument/2006/relationships/image" Target="../media/image88.png"/><Relationship Id="rId14" Type="http://schemas.openxmlformats.org/officeDocument/2006/relationships/image" Target="../media/image89.svg"/><Relationship Id="rId15" Type="http://schemas.openxmlformats.org/officeDocument/2006/relationships/image" Target="../media/image90.png"/><Relationship Id="rId16" Type="http://schemas.openxmlformats.org/officeDocument/2006/relationships/image" Target="../media/image24.png"/><Relationship Id="rId17" Type="http://schemas.openxmlformats.org/officeDocument/2006/relationships/image" Target="../media/image25.svg"/><Relationship Id="rId18" Type="http://schemas.openxmlformats.org/officeDocument/2006/relationships/image" Target="../media/image26.png"/><Relationship Id="rId19" Type="http://schemas.openxmlformats.org/officeDocument/2006/relationships/image" Target="../media/image27.sv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svg"/><Relationship Id="rId23" Type="http://schemas.openxmlformats.org/officeDocument/2006/relationships/image" Target="../media/image31.png"/><Relationship Id="rId24" Type="http://schemas.openxmlformats.org/officeDocument/2006/relationships/image" Target="../media/image67.png"/><Relationship Id="rId25" Type="http://schemas.openxmlformats.org/officeDocument/2006/relationships/image" Target="../media/image6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95.jpe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0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0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0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103.jpe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04.png"/><Relationship Id="rId23" Type="http://schemas.openxmlformats.org/officeDocument/2006/relationships/image" Target="../media/image105.png"/><Relationship Id="rId24" Type="http://schemas.openxmlformats.org/officeDocument/2006/relationships/image" Target="../media/image106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07.png"/><Relationship Id="rId23" Type="http://schemas.openxmlformats.org/officeDocument/2006/relationships/image" Target="../media/image108.png"/><Relationship Id="rId24" Type="http://schemas.openxmlformats.org/officeDocument/2006/relationships/image" Target="../media/image10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3.png"/><Relationship Id="rId23" Type="http://schemas.openxmlformats.org/officeDocument/2006/relationships/image" Target="../media/image114.png"/><Relationship Id="rId24" Type="http://schemas.openxmlformats.org/officeDocument/2006/relationships/image" Target="../media/image11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6.png"/><Relationship Id="rId23" Type="http://schemas.openxmlformats.org/officeDocument/2006/relationships/image" Target="../media/image117.png"/><Relationship Id="rId24" Type="http://schemas.openxmlformats.org/officeDocument/2006/relationships/image" Target="../media/image118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119.pn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67.png"/><Relationship Id="rId10" Type="http://schemas.openxmlformats.org/officeDocument/2006/relationships/image" Target="../media/image68.svg"/><Relationship Id="rId11" Type="http://schemas.openxmlformats.org/officeDocument/2006/relationships/image" Target="../media/image93.png"/><Relationship Id="rId12" Type="http://schemas.openxmlformats.org/officeDocument/2006/relationships/image" Target="../media/image9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svg"/><Relationship Id="rId18" Type="http://schemas.openxmlformats.org/officeDocument/2006/relationships/image" Target="../media/image38.png"/><Relationship Id="rId19" Type="http://schemas.openxmlformats.org/officeDocument/2006/relationships/image" Target="../media/image39.svg"/><Relationship Id="rId20" Type="http://schemas.openxmlformats.org/officeDocument/2006/relationships/image" Target="../media/image40.png"/><Relationship Id="rId21" Type="http://schemas.openxmlformats.org/officeDocument/2006/relationships/image" Target="../media/image41.svg"/><Relationship Id="rId22" Type="http://schemas.openxmlformats.org/officeDocument/2006/relationships/image" Target="../media/image91.png"/><Relationship Id="rId23" Type="http://schemas.openxmlformats.org/officeDocument/2006/relationships/image" Target="../media/image92.svg"/><Relationship Id="rId24" Type="http://schemas.openxmlformats.org/officeDocument/2006/relationships/image" Target="../media/image96.png"/><Relationship Id="rId25" Type="http://schemas.openxmlformats.org/officeDocument/2006/relationships/image" Target="../media/image97.svg"/><Relationship Id="rId26" Type="http://schemas.openxmlformats.org/officeDocument/2006/relationships/image" Target="../media/image120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70.png"/><Relationship Id="rId15" Type="http://schemas.openxmlformats.org/officeDocument/2006/relationships/image" Target="../media/image71.svg"/><Relationship Id="rId16" Type="http://schemas.openxmlformats.org/officeDocument/2006/relationships/image" Target="../media/image76.png"/><Relationship Id="rId17" Type="http://schemas.openxmlformats.org/officeDocument/2006/relationships/image" Target="../media/image77.svg"/><Relationship Id="rId18" Type="http://schemas.openxmlformats.org/officeDocument/2006/relationships/image" Target="../media/image72.png"/><Relationship Id="rId19" Type="http://schemas.openxmlformats.org/officeDocument/2006/relationships/image" Target="../media/image73.svg"/><Relationship Id="rId20" Type="http://schemas.openxmlformats.org/officeDocument/2006/relationships/image" Target="../media/image74.png"/><Relationship Id="rId21" Type="http://schemas.openxmlformats.org/officeDocument/2006/relationships/image" Target="../media/image75.svg"/><Relationship Id="rId22" Type="http://schemas.openxmlformats.org/officeDocument/2006/relationships/image" Target="../media/image78.png"/><Relationship Id="rId23" Type="http://schemas.openxmlformats.org/officeDocument/2006/relationships/image" Target="../media/image79.svg"/><Relationship Id="rId24" Type="http://schemas.openxmlformats.org/officeDocument/2006/relationships/image" Target="../media/image42.png"/><Relationship Id="rId25" Type="http://schemas.openxmlformats.org/officeDocument/2006/relationships/image" Target="../media/image43.svg"/><Relationship Id="rId26" Type="http://schemas.openxmlformats.org/officeDocument/2006/relationships/image" Target="../media/image80.png"/><Relationship Id="rId27" Type="http://schemas.openxmlformats.org/officeDocument/2006/relationships/image" Target="../media/image81.svg"/><Relationship Id="rId28" Type="http://schemas.openxmlformats.org/officeDocument/2006/relationships/image" Target="../media/image24.png"/><Relationship Id="rId29" Type="http://schemas.openxmlformats.org/officeDocument/2006/relationships/image" Target="../media/image25.svg"/><Relationship Id="rId30" Type="http://schemas.openxmlformats.org/officeDocument/2006/relationships/image" Target="../media/image26.png"/><Relationship Id="rId31" Type="http://schemas.openxmlformats.org/officeDocument/2006/relationships/image" Target="../media/image27.svg"/><Relationship Id="rId32" Type="http://schemas.openxmlformats.org/officeDocument/2006/relationships/image" Target="../media/image28.png"/><Relationship Id="rId33" Type="http://schemas.openxmlformats.org/officeDocument/2006/relationships/image" Target="../media/image29.png"/><Relationship Id="rId34" Type="http://schemas.openxmlformats.org/officeDocument/2006/relationships/image" Target="../media/image30.svg"/><Relationship Id="rId35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121.png"/><Relationship Id="rId4" Type="http://schemas.openxmlformats.org/officeDocument/2006/relationships/image" Target="../media/image122.svg"/><Relationship Id="rId5" Type="http://schemas.openxmlformats.org/officeDocument/2006/relationships/image" Target="../media/image123.png"/><Relationship Id="rId6" Type="http://schemas.openxmlformats.org/officeDocument/2006/relationships/image" Target="../media/image24.png"/><Relationship Id="rId7" Type="http://schemas.openxmlformats.org/officeDocument/2006/relationships/image" Target="../media/image25.svg"/><Relationship Id="rId8" Type="http://schemas.openxmlformats.org/officeDocument/2006/relationships/image" Target="../media/image26.png"/><Relationship Id="rId9" Type="http://schemas.openxmlformats.org/officeDocument/2006/relationships/image" Target="../media/image27.sv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svg"/><Relationship Id="rId1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1" y="4221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-3665944" y="2034369"/>
            <a:ext cx="10972381" cy="6276022"/>
          </a:xfrm>
          <a:custGeom>
            <a:avLst/>
            <a:gdLst/>
            <a:ahLst/>
            <a:cxnLst/>
            <a:rect r="r" b="b" t="t" l="l"/>
            <a:pathLst>
              <a:path h="6276022" w="10972381">
                <a:moveTo>
                  <a:pt x="0" y="0"/>
                </a:moveTo>
                <a:lnTo>
                  <a:pt x="10972381" y="0"/>
                </a:lnTo>
                <a:lnTo>
                  <a:pt x="10972381" y="6276022"/>
                </a:lnTo>
                <a:lnTo>
                  <a:pt x="0" y="62760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7483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1944979" y="1918564"/>
            <a:ext cx="10340426" cy="8954348"/>
            <a:chOff x="0" y="0"/>
            <a:chExt cx="13787234" cy="1193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7120" cy="11939143"/>
            </a:xfrm>
            <a:custGeom>
              <a:avLst/>
              <a:gdLst/>
              <a:ahLst/>
              <a:cxnLst/>
              <a:rect r="r" b="b" t="t" l="l"/>
              <a:pathLst>
                <a:path h="11939143" w="13787120">
                  <a:moveTo>
                    <a:pt x="10340467" y="0"/>
                  </a:moveTo>
                  <a:lnTo>
                    <a:pt x="3446780" y="0"/>
                  </a:lnTo>
                  <a:lnTo>
                    <a:pt x="0" y="5969508"/>
                  </a:lnTo>
                  <a:lnTo>
                    <a:pt x="3446780" y="11939143"/>
                  </a:lnTo>
                  <a:lnTo>
                    <a:pt x="10340340" y="11939143"/>
                  </a:lnTo>
                  <a:lnTo>
                    <a:pt x="13787120" y="5969635"/>
                  </a:lnTo>
                  <a:close/>
                </a:path>
              </a:pathLst>
            </a:custGeom>
            <a:blipFill>
              <a:blip r:embed="rId5"/>
              <a:stretch>
                <a:fillRect l="-35994" t="-463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38638" y="1897656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434342" y="8187290"/>
            <a:ext cx="2393061" cy="2031521"/>
          </a:xfrm>
          <a:custGeom>
            <a:avLst/>
            <a:gdLst/>
            <a:ahLst/>
            <a:cxnLst/>
            <a:rect r="r" b="b" t="t" l="l"/>
            <a:pathLst>
              <a:path h="2031521" w="2393061">
                <a:moveTo>
                  <a:pt x="0" y="0"/>
                </a:moveTo>
                <a:lnTo>
                  <a:pt x="2393061" y="0"/>
                </a:lnTo>
                <a:lnTo>
                  <a:pt x="2393061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-10800000">
            <a:off x="11944979" y="1577826"/>
            <a:ext cx="2460574" cy="544401"/>
            <a:chOff x="0" y="0"/>
            <a:chExt cx="3280766" cy="725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038638" y="-66818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681909" y="2469439"/>
            <a:ext cx="12321415" cy="145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1"/>
              </a:lnSpc>
            </a:pPr>
            <a:r>
              <a:rPr lang="en-US" sz="7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BÁO CÁO ĐỒ ÁN TỐT NGHIỆP</a:t>
            </a:r>
          </a:p>
        </p:txBody>
      </p:sp>
      <p:grpSp>
        <p:nvGrpSpPr>
          <p:cNvPr name="Group 13" id="13"/>
          <p:cNvGrpSpPr/>
          <p:nvPr/>
        </p:nvGrpSpPr>
        <p:grpSpPr>
          <a:xfrm rot="-10800000">
            <a:off x="10366820" y="7873536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3280791" y="0"/>
                  </a:moveTo>
                  <a:lnTo>
                    <a:pt x="0" y="0"/>
                  </a:lnTo>
                  <a:lnTo>
                    <a:pt x="0" y="725932"/>
                  </a:lnTo>
                  <a:lnTo>
                    <a:pt x="3280791" y="725932"/>
                  </a:lnTo>
                  <a:lnTo>
                    <a:pt x="3280791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434342" y="6093362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-918562" y="4017264"/>
            <a:ext cx="11844595" cy="3295745"/>
          </a:xfrm>
          <a:custGeom>
            <a:avLst/>
            <a:gdLst/>
            <a:ahLst/>
            <a:cxnLst/>
            <a:rect r="r" b="b" t="t" l="l"/>
            <a:pathLst>
              <a:path h="3295745" w="11844595">
                <a:moveTo>
                  <a:pt x="0" y="0"/>
                </a:moveTo>
                <a:lnTo>
                  <a:pt x="11844594" y="0"/>
                </a:lnTo>
                <a:lnTo>
                  <a:pt x="11844594" y="3295745"/>
                </a:lnTo>
                <a:lnTo>
                  <a:pt x="0" y="3295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668973" y="8311115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1549977" y="1267558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0016642" y="8187290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11932" y="6093362"/>
            <a:ext cx="384315" cy="346605"/>
          </a:xfrm>
          <a:custGeom>
            <a:avLst/>
            <a:gdLst/>
            <a:ahLst/>
            <a:cxnLst/>
            <a:rect r="r" b="b" t="t" l="l"/>
            <a:pathLst>
              <a:path h="346605" w="384315">
                <a:moveTo>
                  <a:pt x="0" y="0"/>
                </a:moveTo>
                <a:lnTo>
                  <a:pt x="384314" y="0"/>
                </a:lnTo>
                <a:lnTo>
                  <a:pt x="384314" y="346605"/>
                </a:lnTo>
                <a:lnTo>
                  <a:pt x="0" y="3466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3235168" y="-642976"/>
            <a:ext cx="7852343" cy="4109437"/>
          </a:xfrm>
          <a:custGeom>
            <a:avLst/>
            <a:gdLst/>
            <a:ahLst/>
            <a:cxnLst/>
            <a:rect r="r" b="b" t="t" l="l"/>
            <a:pathLst>
              <a:path h="4109437" w="7852343">
                <a:moveTo>
                  <a:pt x="0" y="0"/>
                </a:moveTo>
                <a:lnTo>
                  <a:pt x="7852344" y="0"/>
                </a:lnTo>
                <a:lnTo>
                  <a:pt x="7852344" y="4109438"/>
                </a:lnTo>
                <a:lnTo>
                  <a:pt x="0" y="410943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44335" y="6907126"/>
          <a:ext cx="8204200" cy="2184400"/>
        </p:xfrm>
        <a:graphic>
          <a:graphicData uri="http://schemas.openxmlformats.org/drawingml/2006/table">
            <a:tbl>
              <a:tblPr/>
              <a:tblGrid>
                <a:gridCol w="4187496"/>
                <a:gridCol w="4016704"/>
              </a:tblGrid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Giảng viên hướng dẫn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TS. Nguyễn Ngọc Khải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Sinh viên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Lê Văn 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Lớp chuyên ngành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2022ĐHCNTT06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Khóa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028700" y="4400888"/>
            <a:ext cx="875869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 DỰNG HỆ THỐNG QUẢN LÝ SẢN XUẤT VÀ KINH DOANH CHO DOANH NGHIỆP NHỎ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-1536097"/>
            <a:ext cx="18717304" cy="3658324"/>
            <a:chOff x="0" y="0"/>
            <a:chExt cx="24956405" cy="4877765"/>
          </a:xfrm>
        </p:grpSpPr>
        <p:sp>
          <p:nvSpPr>
            <p:cNvPr name="Freeform 25" id="2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7" id="2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3845" y="2886457"/>
            <a:ext cx="6992170" cy="8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6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NỘI DUNG CHÍNH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0136" y="4156752"/>
            <a:ext cx="6075880" cy="3168981"/>
            <a:chOff x="0" y="0"/>
            <a:chExt cx="8101173" cy="4225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56611" y="637681"/>
              <a:ext cx="4687136" cy="643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3"/>
                </a:lnSpc>
              </a:pPr>
              <a:r>
                <a:rPr lang="en-US" sz="3303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Tổng quan đề tài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45682" y="55174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44223" y="4156752"/>
            <a:ext cx="6625473" cy="3168981"/>
            <a:chOff x="0" y="0"/>
            <a:chExt cx="8833964" cy="422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084213" y="609321"/>
              <a:ext cx="6749751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Phân tích hệ thống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1774" y="584325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4845" y="6346498"/>
            <a:ext cx="6404230" cy="3204920"/>
            <a:chOff x="0" y="0"/>
            <a:chExt cx="8538973" cy="4273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99855" y="162462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43166" y="601935"/>
              <a:ext cx="781667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67999" y="615661"/>
              <a:ext cx="6009709" cy="736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Xây dựng &amp; Kiểm thử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0136" y="6468344"/>
            <a:ext cx="6075880" cy="3168990"/>
            <a:chOff x="0" y="0"/>
            <a:chExt cx="8101173" cy="42253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2055" y="11455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084213" y="609333"/>
              <a:ext cx="5791589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Thiết kế hệ thống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45682" y="56610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772927" y="8562225"/>
            <a:ext cx="5204338" cy="3083073"/>
          </a:xfrm>
          <a:custGeom>
            <a:avLst/>
            <a:gdLst/>
            <a:ahLst/>
            <a:cxnLst/>
            <a:rect r="r" b="b" t="t" l="l"/>
            <a:pathLst>
              <a:path h="3083073" w="5204338">
                <a:moveTo>
                  <a:pt x="0" y="0"/>
                </a:moveTo>
                <a:lnTo>
                  <a:pt x="5204339" y="0"/>
                </a:lnTo>
                <a:lnTo>
                  <a:pt x="5204339" y="3083073"/>
                </a:lnTo>
                <a:lnTo>
                  <a:pt x="0" y="308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5665705" y="8463543"/>
            <a:ext cx="7297548" cy="3181754"/>
            <a:chOff x="0" y="0"/>
            <a:chExt cx="9730064" cy="42423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790946" y="13157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20650" y="601935"/>
              <a:ext cx="567968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288618" y="455046"/>
              <a:ext cx="8441446" cy="861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581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Kết luận và hướng phát triển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34" id="34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5852724" y="319243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-10800000">
            <a:off x="15759074" y="-588"/>
            <a:ext cx="2460574" cy="544401"/>
            <a:chOff x="0" y="0"/>
            <a:chExt cx="3280766" cy="7258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659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5852724" y="-1645222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 flipH="false" flipV="false" rot="0">
            <a:off x="17080897" y="1516240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6" id="46"/>
          <p:cNvSpPr/>
          <p:nvPr/>
        </p:nvSpPr>
        <p:spPr>
          <a:xfrm flipH="false" flipV="false" rot="0">
            <a:off x="17811921" y="71870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7" id="47"/>
          <p:cNvSpPr/>
          <p:nvPr/>
        </p:nvSpPr>
        <p:spPr>
          <a:xfrm flipH="false" flipV="false" rot="0">
            <a:off x="17953549" y="-51613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3" y="0"/>
                </a:lnTo>
                <a:lnTo>
                  <a:pt x="411203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48" name="TextBox 47"/>
          <p:cNvSpPr txBox="1"/>
          <p:nvPr/>
        </p:nvSpPr>
        <p:spPr>
          <a:xfrm>
            <a:off x="1097280" y="2560320"/>
            <a:ext cx="14630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1. Tổng quan đề tài</a:t>
            </a:r>
            <a:br/>
            <a:r>
              <a:t>2. Lý do chọn đề tài &amp; Thực trạng</a:t>
            </a:r>
            <a:br/>
            <a:r>
              <a:t>3. Mục tiêu đề tài</a:t>
            </a:r>
            <a:br/>
            <a:r>
              <a:t>4. Công nghệ sử dụng</a:t>
            </a:r>
            <a:br/>
            <a:r>
              <a:t>5. Phân tích hệ thống</a:t>
            </a:r>
            <a:br/>
            <a:r>
              <a:t>6. Thiết kế hệ thống</a:t>
            </a:r>
            <a:br/>
            <a:r>
              <a:t>7. Xây dựng &amp; Kiểm thử</a:t>
            </a:r>
            <a:br/>
            <a:r>
              <a:t>8. Giới thiệu các chức năng chính</a:t>
            </a:r>
            <a:br/>
            <a:r>
              <a:t>9. Kết quả đạt được</a:t>
            </a:r>
            <a:br/>
            <a:r>
              <a:t>10. Hướng phát triển &amp; Kết luận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2157643" y="3450650"/>
            <a:ext cx="7447264" cy="6836350"/>
          </a:xfrm>
          <a:custGeom>
            <a:avLst/>
            <a:gdLst/>
            <a:ahLst/>
            <a:cxnLst/>
            <a:rect r="r" b="b" t="t" l="l"/>
            <a:pathLst>
              <a:path h="6836350" w="7447264">
                <a:moveTo>
                  <a:pt x="0" y="0"/>
                </a:moveTo>
                <a:lnTo>
                  <a:pt x="7447264" y="0"/>
                </a:lnTo>
                <a:lnTo>
                  <a:pt x="7447264" y="6836350"/>
                </a:lnTo>
                <a:lnTo>
                  <a:pt x="0" y="6836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2533576" y="4632122"/>
            <a:ext cx="7895663" cy="6837293"/>
            <a:chOff x="0" y="0"/>
            <a:chExt cx="10527551" cy="9116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7538" cy="9116441"/>
            </a:xfrm>
            <a:custGeom>
              <a:avLst/>
              <a:gdLst/>
              <a:ahLst/>
              <a:cxnLst/>
              <a:rect r="r" b="b" t="t" l="l"/>
              <a:pathLst>
                <a:path h="9116441" w="10527538">
                  <a:moveTo>
                    <a:pt x="7895717" y="0"/>
                  </a:moveTo>
                  <a:lnTo>
                    <a:pt x="2631948" y="0"/>
                  </a:lnTo>
                  <a:lnTo>
                    <a:pt x="0" y="4558157"/>
                  </a:lnTo>
                  <a:lnTo>
                    <a:pt x="2631948" y="9116441"/>
                  </a:lnTo>
                  <a:lnTo>
                    <a:pt x="7895717" y="9116441"/>
                  </a:lnTo>
                  <a:lnTo>
                    <a:pt x="10527538" y="4558157"/>
                  </a:lnTo>
                  <a:close/>
                </a:path>
              </a:pathLst>
            </a:custGeom>
            <a:blipFill>
              <a:blip r:embed="rId16"/>
              <a:stretch>
                <a:fillRect l="-29776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117228" y="8323936"/>
            <a:ext cx="2813647" cy="2537555"/>
          </a:xfrm>
          <a:custGeom>
            <a:avLst/>
            <a:gdLst/>
            <a:ahLst/>
            <a:cxnLst/>
            <a:rect r="r" b="b" t="t" l="l"/>
            <a:pathLst>
              <a:path h="2537555" w="2813647">
                <a:moveTo>
                  <a:pt x="0" y="0"/>
                </a:moveTo>
                <a:lnTo>
                  <a:pt x="2813646" y="0"/>
                </a:lnTo>
                <a:lnTo>
                  <a:pt x="2813646" y="2537555"/>
                </a:lnTo>
                <a:lnTo>
                  <a:pt x="0" y="25375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1927472" y="8139836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3475618" y="3618081"/>
            <a:ext cx="606104" cy="507587"/>
          </a:xfrm>
          <a:custGeom>
            <a:avLst/>
            <a:gdLst/>
            <a:ahLst/>
            <a:cxnLst/>
            <a:rect r="r" b="b" t="t" l="l"/>
            <a:pathLst>
              <a:path h="507587" w="606104">
                <a:moveTo>
                  <a:pt x="0" y="0"/>
                </a:moveTo>
                <a:lnTo>
                  <a:pt x="606104" y="0"/>
                </a:lnTo>
                <a:lnTo>
                  <a:pt x="606104" y="507587"/>
                </a:lnTo>
                <a:lnTo>
                  <a:pt x="0" y="5075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844299" y="7029336"/>
            <a:ext cx="388591" cy="325422"/>
          </a:xfrm>
          <a:custGeom>
            <a:avLst/>
            <a:gdLst/>
            <a:ahLst/>
            <a:cxnLst/>
            <a:rect r="r" b="b" t="t" l="l"/>
            <a:pathLst>
              <a:path h="325422" w="388591">
                <a:moveTo>
                  <a:pt x="0" y="0"/>
                </a:moveTo>
                <a:lnTo>
                  <a:pt x="388592" y="0"/>
                </a:lnTo>
                <a:lnTo>
                  <a:pt x="388592" y="325421"/>
                </a:lnTo>
                <a:lnTo>
                  <a:pt x="0" y="32542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976036" y="3490762"/>
            <a:ext cx="5683746" cy="69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9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TỔNG QUAN ĐỀ TÀI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88050" y="4917424"/>
            <a:ext cx="6017902" cy="4223822"/>
            <a:chOff x="0" y="0"/>
            <a:chExt cx="8023869" cy="56317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172526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352123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0"/>
                  </a:lnTo>
                  <a:lnTo>
                    <a:pt x="0" y="1279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2497" y="2425969"/>
              <a:ext cx="772755" cy="772755"/>
            </a:xfrm>
            <a:custGeom>
              <a:avLst/>
              <a:gdLst/>
              <a:ahLst/>
              <a:cxnLst/>
              <a:rect r="r" b="b" t="t" l="l"/>
              <a:pathLst>
                <a:path h="772755" w="772755">
                  <a:moveTo>
                    <a:pt x="0" y="0"/>
                  </a:moveTo>
                  <a:lnTo>
                    <a:pt x="772755" y="0"/>
                  </a:lnTo>
                  <a:lnTo>
                    <a:pt x="772755" y="772755"/>
                  </a:lnTo>
                  <a:lnTo>
                    <a:pt x="0" y="772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6363" y="229216"/>
              <a:ext cx="645023" cy="821209"/>
            </a:xfrm>
            <a:custGeom>
              <a:avLst/>
              <a:gdLst/>
              <a:ahLst/>
              <a:cxnLst/>
              <a:rect r="r" b="b" t="t" l="l"/>
              <a:pathLst>
                <a:path h="821209" w="645023">
                  <a:moveTo>
                    <a:pt x="0" y="0"/>
                  </a:moveTo>
                  <a:lnTo>
                    <a:pt x="645023" y="0"/>
                  </a:lnTo>
                  <a:lnTo>
                    <a:pt x="645023" y="821209"/>
                  </a:lnTo>
                  <a:lnTo>
                    <a:pt x="0" y="821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4925" y="4601553"/>
              <a:ext cx="824083" cy="824083"/>
            </a:xfrm>
            <a:custGeom>
              <a:avLst/>
              <a:gdLst/>
              <a:ahLst/>
              <a:cxnLst/>
              <a:rect r="r" b="b" t="t" l="l"/>
              <a:pathLst>
                <a:path h="824083" w="824083">
                  <a:moveTo>
                    <a:pt x="0" y="0"/>
                  </a:moveTo>
                  <a:lnTo>
                    <a:pt x="824083" y="0"/>
                  </a:lnTo>
                  <a:lnTo>
                    <a:pt x="824083" y="824083"/>
                  </a:lnTo>
                  <a:lnTo>
                    <a:pt x="0" y="82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606681" y="353041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Lý do chọn đề tài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06681" y="2549794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Mục tiêu đề tài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42923" y="4714579"/>
              <a:ext cx="648094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Công nghệ sử dụng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-1647392"/>
            <a:ext cx="18717304" cy="3658324"/>
            <a:chOff x="0" y="0"/>
            <a:chExt cx="24956405" cy="4877765"/>
          </a:xfrm>
        </p:grpSpPr>
        <p:sp>
          <p:nvSpPr>
            <p:cNvPr name="Freeform 30" id="30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5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-10800000">
            <a:off x="17121145" y="32999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8" id="38"/>
          <p:cNvSpPr/>
          <p:nvPr/>
        </p:nvSpPr>
        <p:spPr>
          <a:xfrm flipH="false" flipV="false" rot="-10800000">
            <a:off x="16863341" y="5993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1371600" y="4114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</a:rPr>
              <a:t>• Lý do chọn đề tài</a:t>
            </a:r>
            <a:br/>
            <a:r>
              <a:t>• Mục tiêu đề tài</a:t>
            </a:r>
            <a:br/>
            <a:r>
              <a:t>• Công nghệ sử dụng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783967" y="3806086"/>
            <a:ext cx="9358856" cy="1018752"/>
            <a:chOff x="0" y="0"/>
            <a:chExt cx="12478474" cy="1358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34969" y="-76200"/>
              <a:ext cx="11443506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Phần lớn các xưởng nhô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 kính vừa và nhỏ vẫn quản lý bằng Excel hoặc sổ sách thủ công.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256" y="2622484"/>
            <a:ext cx="1076888" cy="1081712"/>
            <a:chOff x="0" y="0"/>
            <a:chExt cx="1435851" cy="1442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851" cy="1442283"/>
            </a:xfrm>
            <a:custGeom>
              <a:avLst/>
              <a:gdLst/>
              <a:ahLst/>
              <a:cxnLst/>
              <a:rect r="r" b="b" t="t" l="l"/>
              <a:pathLst>
                <a:path h="1442283" w="1435851">
                  <a:moveTo>
                    <a:pt x="0" y="0"/>
                  </a:moveTo>
                  <a:lnTo>
                    <a:pt x="1435851" y="0"/>
                  </a:lnTo>
                  <a:lnTo>
                    <a:pt x="1435851" y="1442283"/>
                  </a:lnTo>
                  <a:lnTo>
                    <a:pt x="0" y="1442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6573" y="258349"/>
              <a:ext cx="727005" cy="925585"/>
            </a:xfrm>
            <a:custGeom>
              <a:avLst/>
              <a:gdLst/>
              <a:ahLst/>
              <a:cxnLst/>
              <a:rect r="r" b="b" t="t" l="l"/>
              <a:pathLst>
                <a:path h="925585" w="727005">
                  <a:moveTo>
                    <a:pt x="0" y="0"/>
                  </a:moveTo>
                  <a:lnTo>
                    <a:pt x="727005" y="0"/>
                  </a:lnTo>
                  <a:lnTo>
                    <a:pt x="727005" y="925585"/>
                  </a:lnTo>
                  <a:lnTo>
                    <a:pt x="0" y="92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83967" y="4983331"/>
            <a:ext cx="9061074" cy="1018752"/>
            <a:chOff x="0" y="0"/>
            <a:chExt cx="12081432" cy="1358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4969" y="-76200"/>
              <a:ext cx="1104646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Dữ liệu rời rạc, khó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kiểm soát tiến độ, tồn kho và chi phí sản xuất.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26" y="7776433"/>
            <a:ext cx="7463882" cy="1018752"/>
            <a:chOff x="0" y="0"/>
            <a:chExt cx="9951843" cy="1358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4969" y="-76200"/>
              <a:ext cx="891687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Quy trình phối hợp giữa kinh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doanh – kỹ thuật – kho – sản xuất chưa đồng bộ.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3931" y="3806086"/>
            <a:ext cx="5935408" cy="3402444"/>
          </a:xfrm>
          <a:custGeom>
            <a:avLst/>
            <a:gdLst/>
            <a:ahLst/>
            <a:cxnLst/>
            <a:rect r="r" b="b" t="t" l="l"/>
            <a:pathLst>
              <a:path h="3402444" w="5935408">
                <a:moveTo>
                  <a:pt x="0" y="0"/>
                </a:moveTo>
                <a:lnTo>
                  <a:pt x="5935408" y="0"/>
                </a:lnTo>
                <a:lnTo>
                  <a:pt x="5935408" y="3402444"/>
                </a:lnTo>
                <a:lnTo>
                  <a:pt x="0" y="3402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514" r="0" b="-4514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92042" y="6339973"/>
            <a:ext cx="6067258" cy="3261151"/>
          </a:xfrm>
          <a:custGeom>
            <a:avLst/>
            <a:gdLst/>
            <a:ahLst/>
            <a:cxnLst/>
            <a:rect r="r" b="b" t="t" l="l"/>
            <a:pathLst>
              <a:path h="3261151" w="6067258">
                <a:moveTo>
                  <a:pt x="0" y="0"/>
                </a:moveTo>
                <a:lnTo>
                  <a:pt x="6067258" y="0"/>
                </a:lnTo>
                <a:lnTo>
                  <a:pt x="6067258" y="3261151"/>
                </a:lnTo>
                <a:lnTo>
                  <a:pt x="0" y="3261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1" id="21"/>
          <p:cNvGrpSpPr/>
          <p:nvPr/>
        </p:nvGrpSpPr>
        <p:grpSpPr>
          <a:xfrm rot="0">
            <a:off x="-35628" y="-1550190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15368" y="2773496"/>
            <a:ext cx="5375822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Lý do chọn đề tài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391993" y="-513494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7"/>
                </a:lnTo>
                <a:lnTo>
                  <a:pt x="0" y="1611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6394649" y="1318039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0">
            <a:off x="16466878" y="-36511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Phần lớn các xưởng nhôm kính vừa và nhỏ tại Việt Nam vẫn sử dụng Excel hoặc sổ sách thủ công.</a:t>
            </a:r>
            <a:br/>
            <a:br/>
            <a:r>
              <a:t>• Dữ liệu rời rạc, khó kiểm soát tồn kho, tiến độ thi công và chi phí sản xuất.</a:t>
            </a:r>
            <a:br/>
            <a:br/>
            <a:r>
              <a:t>• Quy trình phối hợp giữa các bộ phận (Kinh doanh – Kỹ thuật – Kho – Sản xuất) thiếu đồng bộ.</a:t>
            </a:r>
            <a:br/>
            <a:br/>
            <a:r>
              <a:t>• Nhu cầu chuyển đổi số quản lý sản xuất ngày càng cấp thiết trong bối cảnh Công nghiệp 4.0.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783967" y="3806086"/>
            <a:ext cx="9358856" cy="1018752"/>
            <a:chOff x="0" y="0"/>
            <a:chExt cx="12478474" cy="1358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34969" y="-76200"/>
              <a:ext cx="11443506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Phần lớn các xưởng nhô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 kính vừa và nhỏ vẫn quản lý bằng Excel hoặc sổ sách thủ công.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256" y="2622484"/>
            <a:ext cx="1076888" cy="1081712"/>
            <a:chOff x="0" y="0"/>
            <a:chExt cx="1435851" cy="1442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851" cy="1442283"/>
            </a:xfrm>
            <a:custGeom>
              <a:avLst/>
              <a:gdLst/>
              <a:ahLst/>
              <a:cxnLst/>
              <a:rect r="r" b="b" t="t" l="l"/>
              <a:pathLst>
                <a:path h="1442283" w="1435851">
                  <a:moveTo>
                    <a:pt x="0" y="0"/>
                  </a:moveTo>
                  <a:lnTo>
                    <a:pt x="1435851" y="0"/>
                  </a:lnTo>
                  <a:lnTo>
                    <a:pt x="1435851" y="1442283"/>
                  </a:lnTo>
                  <a:lnTo>
                    <a:pt x="0" y="1442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6573" y="258349"/>
              <a:ext cx="727005" cy="925585"/>
            </a:xfrm>
            <a:custGeom>
              <a:avLst/>
              <a:gdLst/>
              <a:ahLst/>
              <a:cxnLst/>
              <a:rect r="r" b="b" t="t" l="l"/>
              <a:pathLst>
                <a:path h="925585" w="727005">
                  <a:moveTo>
                    <a:pt x="0" y="0"/>
                  </a:moveTo>
                  <a:lnTo>
                    <a:pt x="727005" y="0"/>
                  </a:lnTo>
                  <a:lnTo>
                    <a:pt x="727005" y="925585"/>
                  </a:lnTo>
                  <a:lnTo>
                    <a:pt x="0" y="92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83967" y="4983331"/>
            <a:ext cx="9061074" cy="1018752"/>
            <a:chOff x="0" y="0"/>
            <a:chExt cx="12081432" cy="1358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4969" y="-76200"/>
              <a:ext cx="1104646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Dữ liệu rời rạc, khó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kiểm soát tiến độ, tồn kho và chi phí sản xuất.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26" y="7776433"/>
            <a:ext cx="7463882" cy="1018752"/>
            <a:chOff x="0" y="0"/>
            <a:chExt cx="9951843" cy="1358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4969" y="-76200"/>
              <a:ext cx="891687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Quy trình phối hợp giữa kinh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doanh – kỹ thuật – kho – sản xuất chưa đồng bộ.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3931" y="3806086"/>
            <a:ext cx="5935408" cy="3402444"/>
          </a:xfrm>
          <a:custGeom>
            <a:avLst/>
            <a:gdLst/>
            <a:ahLst/>
            <a:cxnLst/>
            <a:rect r="r" b="b" t="t" l="l"/>
            <a:pathLst>
              <a:path h="3402444" w="5935408">
                <a:moveTo>
                  <a:pt x="0" y="0"/>
                </a:moveTo>
                <a:lnTo>
                  <a:pt x="5935408" y="0"/>
                </a:lnTo>
                <a:lnTo>
                  <a:pt x="5935408" y="3402444"/>
                </a:lnTo>
                <a:lnTo>
                  <a:pt x="0" y="3402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514" r="0" b="-4514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92042" y="6339973"/>
            <a:ext cx="6067258" cy="3261151"/>
          </a:xfrm>
          <a:custGeom>
            <a:avLst/>
            <a:gdLst/>
            <a:ahLst/>
            <a:cxnLst/>
            <a:rect r="r" b="b" t="t" l="l"/>
            <a:pathLst>
              <a:path h="3261151" w="6067258">
                <a:moveTo>
                  <a:pt x="0" y="0"/>
                </a:moveTo>
                <a:lnTo>
                  <a:pt x="6067258" y="0"/>
                </a:lnTo>
                <a:lnTo>
                  <a:pt x="6067258" y="3261151"/>
                </a:lnTo>
                <a:lnTo>
                  <a:pt x="0" y="3261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1" id="21"/>
          <p:cNvGrpSpPr/>
          <p:nvPr/>
        </p:nvGrpSpPr>
        <p:grpSpPr>
          <a:xfrm rot="0">
            <a:off x="-35628" y="-1550190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15368" y="2773496"/>
            <a:ext cx="5375822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Thực trạng quản lý tại các xưởng nhôm kính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391993" y="-513494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7"/>
                </a:lnTo>
                <a:lnTo>
                  <a:pt x="0" y="1611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6394649" y="1318039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0">
            <a:off x="16466878" y="-36511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Phần lớn các xưởng nhôm kính vừa và nhỏ tại Việt Nam vẫn sử dụng Excel hoặc sổ sách thủ công.</a:t>
            </a:r>
            <a:br/>
            <a:br/>
            <a:r>
              <a:t>• Dữ liệu rời rạc, khó kiểm soát tồn kho, tiến độ thi công và chi phí sản xuất.</a:t>
            </a:r>
            <a:br/>
            <a:br/>
            <a:r>
              <a:t>• Quy trình phối hợp giữa các bộ phận (Kinh doanh – Kỹ thuật – Kho – Sản xuất) thiếu đồng bộ.</a:t>
            </a:r>
            <a:br/>
            <a:br/>
            <a:r>
              <a:t>• Nhu cầu chuyển đổi số quản lý sản xuất ngày càng cấp thiết trong bối cảnh Công nghiệp 4.0.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Thời gian lập báo giá trung bình: 2 - 3 ngày</a:t>
            </a:r>
            <a:br/>
            <a:br/>
            <a:r>
              <a:t>• Tỷ lệ sai sót vật tư: 15 - 20%</a:t>
            </a:r>
            <a:br/>
            <a:br/>
            <a:r>
              <a:t>• Khó khăn trong việc theo dõi tiến độ dự án thời gian thực</a:t>
            </a:r>
            <a:br/>
            <a:br/>
            <a:r>
              <a:t>• Báo cáo tồn kho và tài chính không kịp thời</a:t>
            </a:r>
            <a:br/>
            <a:br/>
            <a:r>
              <a:t>• Phản hồi chậm với khách hàng → mất cơ hội kinh doanh</a:t>
            </a:r>
            <a:br/>
            <a:br/>
            <a:r>
              <a:t>• Dễ xảy ra tình trạng tồn kho ứ đọng hoặc thiếu vật tư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7242965" y="-263757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7130265" y="1543193"/>
            <a:ext cx="2460574" cy="544401"/>
            <a:chOff x="0" y="0"/>
            <a:chExt cx="3280766" cy="725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17242965" y="1740827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7343692" y="-26375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7149401" y="101784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2"/>
                </a:lnTo>
                <a:lnTo>
                  <a:pt x="0" y="350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628414" y="5332605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6" y="0"/>
                </a:lnTo>
                <a:lnTo>
                  <a:pt x="7864916" y="3547757"/>
                </a:lnTo>
                <a:lnTo>
                  <a:pt x="0" y="3547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325044" y="5053027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163675" y="3952937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2029066" y="2597789"/>
            <a:ext cx="4269218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Mục tiêu đề tài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49298" y="4025394"/>
            <a:ext cx="7482935" cy="4854969"/>
            <a:chOff x="0" y="0"/>
            <a:chExt cx="9977247" cy="64732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742948"/>
              <a:ext cx="9977247" cy="4730344"/>
            </a:xfrm>
            <a:custGeom>
              <a:avLst/>
              <a:gdLst/>
              <a:ahLst/>
              <a:cxnLst/>
              <a:rect r="r" b="b" t="t" l="l"/>
              <a:pathLst>
                <a:path h="4730344" w="9977247">
                  <a:moveTo>
                    <a:pt x="0" y="0"/>
                  </a:moveTo>
                  <a:lnTo>
                    <a:pt x="9977247" y="0"/>
                  </a:lnTo>
                  <a:lnTo>
                    <a:pt x="9977247" y="4730344"/>
                  </a:lnTo>
                  <a:lnTo>
                    <a:pt x="0" y="473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75563" y="1370178"/>
              <a:ext cx="8628888" cy="1144791"/>
            </a:xfrm>
            <a:custGeom>
              <a:avLst/>
              <a:gdLst/>
              <a:ahLst/>
              <a:cxnLst/>
              <a:rect r="r" b="b" t="t" l="l"/>
              <a:pathLst>
                <a:path h="1144791" w="8628888">
                  <a:moveTo>
                    <a:pt x="0" y="0"/>
                  </a:moveTo>
                  <a:lnTo>
                    <a:pt x="8628888" y="0"/>
                  </a:lnTo>
                  <a:lnTo>
                    <a:pt x="8628888" y="1144790"/>
                  </a:lnTo>
                  <a:lnTo>
                    <a:pt x="0" y="114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673181" y="0"/>
              <a:ext cx="1233665" cy="1251877"/>
            </a:xfrm>
            <a:custGeom>
              <a:avLst/>
              <a:gdLst/>
              <a:ahLst/>
              <a:cxnLst/>
              <a:rect r="r" b="b" t="t" l="l"/>
              <a:pathLst>
                <a:path h="1251877" w="1233665">
                  <a:moveTo>
                    <a:pt x="0" y="0"/>
                  </a:moveTo>
                  <a:lnTo>
                    <a:pt x="1233665" y="0"/>
                  </a:lnTo>
                  <a:lnTo>
                    <a:pt x="1233665" y="1251877"/>
                  </a:lnTo>
                  <a:lnTo>
                    <a:pt x="0" y="1251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-45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77070" y="3243620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91934" y="2946025"/>
              <a:ext cx="43585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Giảm sai sót vật tư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877070" y="496594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291934" y="4668350"/>
              <a:ext cx="530629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Tăng hiệu quả vận hành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877070" y="4042532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4"/>
                  </a:lnTo>
                  <a:lnTo>
                    <a:pt x="0" y="2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291934" y="3744938"/>
              <a:ext cx="380569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Tối ưu thời gian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14331" y="1701003"/>
              <a:ext cx="6570864" cy="792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Hiệu quả đạt được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0800000">
            <a:off x="16985161" y="1767764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5" id="35"/>
          <p:cNvGrpSpPr/>
          <p:nvPr/>
        </p:nvGrpSpPr>
        <p:grpSpPr>
          <a:xfrm rot="0">
            <a:off x="628414" y="2547322"/>
            <a:ext cx="1120153" cy="1125171"/>
            <a:chOff x="0" y="0"/>
            <a:chExt cx="1493537" cy="1500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93537" cy="1500228"/>
            </a:xfrm>
            <a:custGeom>
              <a:avLst/>
              <a:gdLst/>
              <a:ahLst/>
              <a:cxnLst/>
              <a:rect r="r" b="b" t="t" l="l"/>
              <a:pathLst>
                <a:path h="1500228" w="1493537">
                  <a:moveTo>
                    <a:pt x="0" y="0"/>
                  </a:moveTo>
                  <a:lnTo>
                    <a:pt x="1493537" y="0"/>
                  </a:lnTo>
                  <a:lnTo>
                    <a:pt x="1493537" y="1500228"/>
                  </a:lnTo>
                  <a:lnTo>
                    <a:pt x="0" y="150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96023" y="297132"/>
              <a:ext cx="905964" cy="905964"/>
            </a:xfrm>
            <a:custGeom>
              <a:avLst/>
              <a:gdLst/>
              <a:ahLst/>
              <a:cxnLst/>
              <a:rect r="r" b="b" t="t" l="l"/>
              <a:pathLst>
                <a:path h="905964" w="905964">
                  <a:moveTo>
                    <a:pt x="0" y="0"/>
                  </a:moveTo>
                  <a:lnTo>
                    <a:pt x="905964" y="0"/>
                  </a:lnTo>
                  <a:lnTo>
                    <a:pt x="905964" y="905964"/>
                  </a:lnTo>
                  <a:lnTo>
                    <a:pt x="0" y="905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0756" y="6370855"/>
            <a:ext cx="3264140" cy="457169"/>
            <a:chOff x="0" y="0"/>
            <a:chExt cx="4352187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393732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tập trung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0756" y="7106483"/>
            <a:ext cx="5692741" cy="457169"/>
            <a:chOff x="0" y="0"/>
            <a:chExt cx="7590321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0501" y="7830164"/>
            <a:ext cx="5396570" cy="457169"/>
            <a:chOff x="0" y="0"/>
            <a:chExt cx="7195427" cy="6095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05349" y="5246880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4445">
                <a:solidFill>
                  <a:srgbClr val="FFFFFF"/>
                </a:solidFill>
              </a:rPr>
              <a:t>Mục tiêu tổng quát: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Xây dựng hệ thống quản lý sản xuất &amp; kinh doanh tích hợp cho doanh nghiệp nhỏ ngành nhôm kính.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/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Mục tiêu cụ thể: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Quản lý tập trung toàn bộ quy trình: Báo giá → Thi công → Bàn giao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Tối ưu hóa quản lý kho vật tư, giảm sai sót và lãng phí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Đồng bộ dữ liệu thời gian thực giữa các bộ phận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Cung cấp báo cáo trực quan hỗ trợ lãnh đạo ra quyết định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Xây dựng giao diện thân thiện, dễ sử dụng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0" y="-1570730"/>
            <a:ext cx="18717304" cy="3658324"/>
            <a:chOff x="0" y="0"/>
            <a:chExt cx="24956405" cy="4877765"/>
          </a:xfrm>
        </p:grpSpPr>
        <p:sp>
          <p:nvSpPr>
            <p:cNvPr name="Freeform 49" id="4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1" id="5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41845" y="2969378"/>
            <a:ext cx="3556056" cy="2256108"/>
            <a:chOff x="0" y="0"/>
            <a:chExt cx="9020759" cy="57231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07" r="0" b="-910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41845" y="7301496"/>
            <a:ext cx="4117566" cy="2612353"/>
            <a:chOff x="0" y="0"/>
            <a:chExt cx="9020759" cy="5723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02" t="0" r="-1070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1149" y="2658005"/>
            <a:ext cx="1085262" cy="1090124"/>
            <a:chOff x="0" y="0"/>
            <a:chExt cx="1447016" cy="1453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7016" cy="1453498"/>
            </a:xfrm>
            <a:custGeom>
              <a:avLst/>
              <a:gdLst/>
              <a:ahLst/>
              <a:cxnLst/>
              <a:rect r="r" b="b" t="t" l="l"/>
              <a:pathLst>
                <a:path h="1453498" w="1447016">
                  <a:moveTo>
                    <a:pt x="0" y="0"/>
                  </a:moveTo>
                  <a:lnTo>
                    <a:pt x="1447016" y="0"/>
                  </a:lnTo>
                  <a:lnTo>
                    <a:pt x="1447016" y="1453498"/>
                  </a:lnTo>
                  <a:lnTo>
                    <a:pt x="0" y="1453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485" y="283319"/>
              <a:ext cx="936046" cy="936046"/>
            </a:xfrm>
            <a:custGeom>
              <a:avLst/>
              <a:gdLst/>
              <a:ahLst/>
              <a:cxnLst/>
              <a:rect r="r" b="b" t="t" l="l"/>
              <a:pathLst>
                <a:path h="936046" w="936046">
                  <a:moveTo>
                    <a:pt x="0" y="0"/>
                  </a:moveTo>
                  <a:lnTo>
                    <a:pt x="936046" y="0"/>
                  </a:lnTo>
                  <a:lnTo>
                    <a:pt x="936046" y="936046"/>
                  </a:lnTo>
                  <a:lnTo>
                    <a:pt x="0" y="93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58092" y="4564024"/>
            <a:ext cx="758319" cy="758319"/>
          </a:xfrm>
          <a:custGeom>
            <a:avLst/>
            <a:gdLst/>
            <a:ahLst/>
            <a:cxnLst/>
            <a:rect r="r" b="b" t="t" l="l"/>
            <a:pathLst>
              <a:path h="758319" w="758319">
                <a:moveTo>
                  <a:pt x="0" y="0"/>
                </a:moveTo>
                <a:lnTo>
                  <a:pt x="758319" y="0"/>
                </a:lnTo>
                <a:lnTo>
                  <a:pt x="758319" y="758319"/>
                </a:lnTo>
                <a:lnTo>
                  <a:pt x="0" y="758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158092" y="5969648"/>
            <a:ext cx="876132" cy="798010"/>
          </a:xfrm>
          <a:custGeom>
            <a:avLst/>
            <a:gdLst/>
            <a:ahLst/>
            <a:cxnLst/>
            <a:rect r="r" b="b" t="t" l="l"/>
            <a:pathLst>
              <a:path h="798010" w="876132">
                <a:moveTo>
                  <a:pt x="0" y="0"/>
                </a:moveTo>
                <a:lnTo>
                  <a:pt x="876132" y="0"/>
                </a:lnTo>
                <a:lnTo>
                  <a:pt x="876132" y="798010"/>
                </a:lnTo>
                <a:lnTo>
                  <a:pt x="0" y="798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189277" y="7099668"/>
            <a:ext cx="844947" cy="800963"/>
          </a:xfrm>
          <a:custGeom>
            <a:avLst/>
            <a:gdLst/>
            <a:ahLst/>
            <a:cxnLst/>
            <a:rect r="r" b="b" t="t" l="l"/>
            <a:pathLst>
              <a:path h="800963" w="844947">
                <a:moveTo>
                  <a:pt x="0" y="0"/>
                </a:moveTo>
                <a:lnTo>
                  <a:pt x="844947" y="0"/>
                </a:lnTo>
                <a:lnTo>
                  <a:pt x="844947" y="800963"/>
                </a:lnTo>
                <a:lnTo>
                  <a:pt x="0" y="800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2193285" y="5879674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4445">
                <a:solidFill>
                  <a:srgbClr val="00569E"/>
                </a:solidFill>
              </a:rPr>
              <a:t>Backend: Node.js + Express.js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17942" y="5322343"/>
            <a:ext cx="3298365" cy="2092619"/>
            <a:chOff x="0" y="0"/>
            <a:chExt cx="9020759" cy="57231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844" t="0" r="-1844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193285" y="2815354"/>
            <a:ext cx="5983822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Công nghệ sử dụng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3285" y="7215771"/>
            <a:ext cx="4660544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Database: MySQL 8.0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3285" y="4543577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4445">
                <a:solidFill>
                  <a:srgbClr val="00569E"/>
                </a:solidFill>
              </a:rPr>
              <a:t>Frontend: HTML5, CSS3, JavaScript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1" id="21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7413651" y="0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9" id="29"/>
          <p:cNvSpPr/>
          <p:nvPr/>
        </p:nvSpPr>
        <p:spPr>
          <a:xfrm flipH="false" flipV="false" rot="0">
            <a:off x="16416308" y="183153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0" id="30"/>
          <p:cNvSpPr/>
          <p:nvPr/>
        </p:nvSpPr>
        <p:spPr>
          <a:xfrm flipH="false" flipV="false" rot="0">
            <a:off x="16488536" y="148380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1" name="TextBox 30"/>
          <p:cNvSpPr txBox="1"/>
          <p:nvPr/>
        </p:nvSpPr>
        <p:spPr>
          <a:xfrm>
            <a:off x="2194560" y="8138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ORM: Sequelize  |  Auth: JWT + bcrypt  |  Tools: Git, Postman, Draw.io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8869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Lý do chọn: Phù hợp quy mô nhỏ, dễ mở rộng, chi phí thấp, hiệu suất cao.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242136" y="4668559"/>
            <a:ext cx="13232779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PHÂN TÍCH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41417" t="0" r="-1287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6" name="TextBox 25"/>
          <p:cNvSpPr txBox="1"/>
          <p:nvPr/>
        </p:nvSpPr>
        <p:spPr>
          <a:xfrm>
            <a:off x="137160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Xác định các chức năng chính của hệ thống</a:t>
            </a:r>
            <a:br/>
            <a:r>
              <a:t>• Xây dựng biểu đồ Use Case</a:t>
            </a:r>
            <a:br/>
            <a:r>
              <a:t>• Phân tích các actor: Admin, Kinh doanh, Kỹ thuật, Kho, Quản lý</a:t>
            </a:r>
            <a:br/>
            <a:r>
              <a:t>• Xác định các quy trình nghiệp vụ cốt lõi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408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3171261" y="895390"/>
            <a:ext cx="12469460" cy="8868904"/>
          </a:xfrm>
          <a:custGeom>
            <a:avLst/>
            <a:gdLst/>
            <a:ahLst/>
            <a:cxnLst/>
            <a:rect r="r" b="b" t="t" l="l"/>
            <a:pathLst>
              <a:path h="8868904" w="12469460">
                <a:moveTo>
                  <a:pt x="0" y="0"/>
                </a:moveTo>
                <a:lnTo>
                  <a:pt x="12469461" y="0"/>
                </a:lnTo>
                <a:lnTo>
                  <a:pt x="12469461" y="8868903"/>
                </a:lnTo>
                <a:lnTo>
                  <a:pt x="0" y="88689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770584" y="261609"/>
            <a:ext cx="6720913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USECASE chính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89611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DD57"/>
                </a:solidFill>
              </a:rPr>
              <a:t>Hệ thống hỗ trợ đa vai trò với phân quyền rõ ràng: Quản lý khách hàng, Lập &amp; duyệt báo giá, Quản lý dự án, Quản lý kho vật tư và Sản xuất.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2833929" y="1054562"/>
            <a:ext cx="12734014" cy="8881975"/>
          </a:xfrm>
          <a:custGeom>
            <a:avLst/>
            <a:gdLst/>
            <a:ahLst/>
            <a:cxnLst/>
            <a:rect r="r" b="b" t="t" l="l"/>
            <a:pathLst>
              <a:path h="8881975" w="12734014">
                <a:moveTo>
                  <a:pt x="0" y="0"/>
                </a:moveTo>
                <a:lnTo>
                  <a:pt x="12734014" y="0"/>
                </a:lnTo>
                <a:lnTo>
                  <a:pt x="12734014" y="8881975"/>
                </a:lnTo>
                <a:lnTo>
                  <a:pt x="0" y="888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618835" y="177378"/>
            <a:ext cx="6156854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cơ sở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896112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Thiết kế ERD chuẩn hóa – hỗ trợ truy vấn nhanh và mở rộng linh hoạt.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8288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Thiết kế cơ sở dữ liệu (ERD)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2833929" y="1054562"/>
            <a:ext cx="12734014" cy="8881975"/>
          </a:xfrm>
          <a:custGeom>
            <a:avLst/>
            <a:gdLst/>
            <a:ahLst/>
            <a:cxnLst/>
            <a:rect r="r" b="b" t="t" l="l"/>
            <a:pathLst>
              <a:path h="8881975" w="12734014">
                <a:moveTo>
                  <a:pt x="0" y="0"/>
                </a:moveTo>
                <a:lnTo>
                  <a:pt x="12734014" y="0"/>
                </a:lnTo>
                <a:lnTo>
                  <a:pt x="12734014" y="8881975"/>
                </a:lnTo>
                <a:lnTo>
                  <a:pt x="0" y="888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618835" y="177378"/>
            <a:ext cx="6156854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cơ sở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896112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Thiết kế ERD chuẩn hóa – hỗ trợ truy vấn nhanh và mở rộng linh hoạt.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8288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Thiết kế cơ sở dữ liệu (ERD)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242136" y="4668559"/>
            <a:ext cx="13232779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10160">
                <a:solidFill>
                  <a:srgbClr val="2E66AF"/>
                </a:solidFill>
              </a:rPr>
              <a:t>Kiến trúc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41417" t="0" r="-1287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7" name="TextBox 26"/>
          <p:cNvSpPr txBox="1"/>
          <p:nvPr/>
        </p:nvSpPr>
        <p:spPr>
          <a:xfrm>
            <a:off x="1371600" y="320040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FFFFFF"/>
                </a:solidFill>
              </a:rPr>
              <a:t>Mô hình 3-Tier Architecture:</a:t>
            </a:r>
            <a:br/>
            <a:br/>
            <a:r>
              <a:t>  🖥  Presentation Layer: HTML5, CSS3, JavaScript</a:t>
            </a:r>
            <a:br/>
            <a:r>
              <a:t>  ⚙   Application Layer: Node.js + Express.js + RESTful API</a:t>
            </a:r>
            <a:br/>
            <a:r>
              <a:t>  🗄   Data Layer: MySQL 8.0 + Sequelize ORM</a:t>
            </a:r>
            <a:br/>
            <a:br/>
            <a:r>
              <a:t>Bảo mật: JWT Authentication + bcrypt</a:t>
            </a:r>
            <a:br/>
            <a:br/>
            <a:r>
              <a:t>Tính năng nổi bật: Phân quyền người dùng theo vai trò, đồng bộ dữ liệu thời gian thực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32298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387240" y="5312229"/>
            <a:ext cx="12657541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XÂY DỰNG</a:t>
            </a: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 &amp; KIỂM THỬ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6" name="TextBox 25"/>
          <p:cNvSpPr txBox="1"/>
          <p:nvPr/>
        </p:nvSpPr>
        <p:spPr>
          <a:xfrm>
            <a:off x="1371600" y="32004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Phương pháp phát triển: Agile (Sprint 2 tuần)</a:t>
            </a:r>
            <a:br/>
            <a:r>
              <a:t>Công cụ: VS Code, Node.js 18, MySQL Workbench, Git</a:t>
            </a:r>
            <a:br/>
            <a:br/>
            <a:r>
              <a:t>Kết quả kiểm thử:</a:t>
            </a:r>
            <a:br/>
            <a:r>
              <a:t>  • Số lượng test case: 127</a:t>
            </a:r>
            <a:br/>
            <a:r>
              <a:t>  • Tỷ lệ pass: 92%</a:t>
            </a:r>
            <a:br/>
            <a:r>
              <a:t>  • Unit Test, Integration Test và System Test</a:t>
            </a:r>
            <a:br/>
            <a:br/>
            <a:r>
              <a:t>Khó khăn đã khắc phục:</a:t>
            </a:r>
            <a:br/>
            <a:r>
              <a:t>  • Đồng bộ dữ liệu giữa các module</a:t>
            </a:r>
            <a:br/>
            <a:r>
              <a:t>  • Xử lý concurrency khi nhập/xuất kho</a:t>
            </a:r>
            <a:br/>
            <a:r>
              <a:t>  • Tối ưu tốc độ truy vấn báo cáo lớn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4176720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ĐĂNG NHẬP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971019" y="1872996"/>
            <a:ext cx="11085245" cy="5611905"/>
          </a:xfrm>
          <a:custGeom>
            <a:avLst/>
            <a:gdLst/>
            <a:ahLst/>
            <a:cxnLst/>
            <a:rect r="r" b="b" t="t" l="l"/>
            <a:pathLst>
              <a:path h="5611905" w="11085245">
                <a:moveTo>
                  <a:pt x="0" y="0"/>
                </a:moveTo>
                <a:lnTo>
                  <a:pt x="11085245" y="0"/>
                </a:lnTo>
                <a:lnTo>
                  <a:pt x="11085245" y="5611905"/>
                </a:lnTo>
                <a:lnTo>
                  <a:pt x="0" y="56119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8100000">
            <a:off x="2320578" y="7353590"/>
            <a:ext cx="1856209" cy="484935"/>
          </a:xfrm>
          <a:custGeom>
            <a:avLst/>
            <a:gdLst/>
            <a:ahLst/>
            <a:cxnLst/>
            <a:rect r="r" b="b" t="t" l="l"/>
            <a:pathLst>
              <a:path h="484935" w="1856209">
                <a:moveTo>
                  <a:pt x="0" y="0"/>
                </a:moveTo>
                <a:lnTo>
                  <a:pt x="1856209" y="0"/>
                </a:lnTo>
                <a:lnTo>
                  <a:pt x="1856209" y="484935"/>
                </a:lnTo>
                <a:lnTo>
                  <a:pt x="0" y="4849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1241595" y="8411849"/>
            <a:ext cx="5472572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Giao diện đăng nhập thân thiện, bảo mật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Hỗ trợ phân quyền theo chức vụ (Admin, Kinh doanh, Kỹ thuật, Kho…)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phiên đăng nhập an toàn với JWT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6707863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DỰ ÁN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217288" y="1872996"/>
            <a:ext cx="12132098" cy="5838572"/>
          </a:xfrm>
          <a:custGeom>
            <a:avLst/>
            <a:gdLst/>
            <a:ahLst/>
            <a:cxnLst/>
            <a:rect r="r" b="b" t="t" l="l"/>
            <a:pathLst>
              <a:path h="5838572" w="12132098">
                <a:moveTo>
                  <a:pt x="0" y="0"/>
                </a:moveTo>
                <a:lnTo>
                  <a:pt x="12132098" y="0"/>
                </a:lnTo>
                <a:lnTo>
                  <a:pt x="12132098" y="5838572"/>
                </a:lnTo>
                <a:lnTo>
                  <a:pt x="0" y="58385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-9982969">
            <a:off x="7711178" y="7245749"/>
            <a:ext cx="2428614" cy="1921641"/>
          </a:xfrm>
          <a:custGeom>
            <a:avLst/>
            <a:gdLst/>
            <a:ahLst/>
            <a:cxnLst/>
            <a:rect r="r" b="b" t="t" l="l"/>
            <a:pathLst>
              <a:path h="1921641" w="2428614">
                <a:moveTo>
                  <a:pt x="0" y="0"/>
                </a:moveTo>
                <a:lnTo>
                  <a:pt x="2428614" y="0"/>
                </a:lnTo>
                <a:lnTo>
                  <a:pt x="2428614" y="1921640"/>
                </a:lnTo>
                <a:lnTo>
                  <a:pt x="0" y="192164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2476634" y="8179775"/>
            <a:ext cx="4701579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Theo dõi toàn diện tình trạng dự án (Đang chạy, Chờ duyệt, Hoàn thành)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tiến độ, vật tư, nhân sự và chi phí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Cập nhật realtime và thông báo tiến độ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923925"/>
            <a:ext cx="50700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00569E"/>
                </a:solidFill>
              </a:rPr>
              <a:t>LẬP VÀ QUẢN LÝ BÁO GIÁ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218334" y="2127257"/>
            <a:ext cx="12020225" cy="5799759"/>
          </a:xfrm>
          <a:custGeom>
            <a:avLst/>
            <a:gdLst/>
            <a:ahLst/>
            <a:cxnLst/>
            <a:rect r="r" b="b" t="t" l="l"/>
            <a:pathLst>
              <a:path h="5799759" w="12020225">
                <a:moveTo>
                  <a:pt x="0" y="0"/>
                </a:moveTo>
                <a:lnTo>
                  <a:pt x="12020226" y="0"/>
                </a:lnTo>
                <a:lnTo>
                  <a:pt x="12020226" y="5799759"/>
                </a:lnTo>
                <a:lnTo>
                  <a:pt x="0" y="57997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4705190">
            <a:off x="7161647" y="7512873"/>
            <a:ext cx="1803638" cy="1932469"/>
          </a:xfrm>
          <a:custGeom>
            <a:avLst/>
            <a:gdLst/>
            <a:ahLst/>
            <a:cxnLst/>
            <a:rect r="r" b="b" t="t" l="l"/>
            <a:pathLst>
              <a:path h="1932469" w="1803638">
                <a:moveTo>
                  <a:pt x="0" y="0"/>
                </a:moveTo>
                <a:lnTo>
                  <a:pt x="1803638" y="0"/>
                </a:lnTo>
                <a:lnTo>
                  <a:pt x="1803638" y="1932469"/>
                </a:lnTo>
                <a:lnTo>
                  <a:pt x="0" y="193246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9376660" y="8253330"/>
            <a:ext cx="6840874" cy="160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Thiết lập nhanh thông tin báo giá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Chọn mẫu sản phẩm từ thư viện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Tự động tính toán tổng giá trị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Gửi báo giá trực tiếp cho khách hàng hoặc trình duyệt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KHO VẬT TƯ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755883" y="1545056"/>
            <a:ext cx="12047799" cy="5798003"/>
          </a:xfrm>
          <a:custGeom>
            <a:avLst/>
            <a:gdLst/>
            <a:ahLst/>
            <a:cxnLst/>
            <a:rect r="r" b="b" t="t" l="l"/>
            <a:pathLst>
              <a:path h="5798003" w="12047799">
                <a:moveTo>
                  <a:pt x="0" y="0"/>
                </a:moveTo>
                <a:lnTo>
                  <a:pt x="12047799" y="0"/>
                </a:lnTo>
                <a:lnTo>
                  <a:pt x="12047799" y="5798003"/>
                </a:lnTo>
                <a:lnTo>
                  <a:pt x="0" y="579800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-2385730">
            <a:off x="8289895" y="7351095"/>
            <a:ext cx="979776" cy="958139"/>
          </a:xfrm>
          <a:custGeom>
            <a:avLst/>
            <a:gdLst/>
            <a:ahLst/>
            <a:cxnLst/>
            <a:rect r="r" b="b" t="t" l="l"/>
            <a:pathLst>
              <a:path h="958139" w="979776">
                <a:moveTo>
                  <a:pt x="0" y="0"/>
                </a:moveTo>
                <a:lnTo>
                  <a:pt x="979776" y="0"/>
                </a:lnTo>
                <a:lnTo>
                  <a:pt x="979776" y="958139"/>
                </a:lnTo>
                <a:lnTo>
                  <a:pt x="0" y="95813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5977606" y="8451976"/>
            <a:ext cx="6968547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Theo dõi tồn kho thời gian thực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nhập kho, xuất kho, kiểm kho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Cảnh báo vật tư sắp hết / tồn dư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Lịch sử giao dịch kho rõ ràng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546401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00569E"/>
                </a:solidFill>
              </a:rPr>
              <a:t>QUẢN LÝ NGƯỜI DÙNG VÀ PHÂN QUYỀN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079248" y="1914087"/>
            <a:ext cx="11882044" cy="5703381"/>
          </a:xfrm>
          <a:custGeom>
            <a:avLst/>
            <a:gdLst/>
            <a:ahLst/>
            <a:cxnLst/>
            <a:rect r="r" b="b" t="t" l="l"/>
            <a:pathLst>
              <a:path h="5703381" w="11882044">
                <a:moveTo>
                  <a:pt x="0" y="0"/>
                </a:moveTo>
                <a:lnTo>
                  <a:pt x="11882044" y="0"/>
                </a:lnTo>
                <a:lnTo>
                  <a:pt x="11882044" y="5703381"/>
                </a:lnTo>
                <a:lnTo>
                  <a:pt x="0" y="57033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50597" y="8053955"/>
            <a:ext cx="2504767" cy="969554"/>
          </a:xfrm>
          <a:custGeom>
            <a:avLst/>
            <a:gdLst/>
            <a:ahLst/>
            <a:cxnLst/>
            <a:rect r="r" b="b" t="t" l="l"/>
            <a:pathLst>
              <a:path h="969554" w="2504767">
                <a:moveTo>
                  <a:pt x="0" y="0"/>
                </a:moveTo>
                <a:lnTo>
                  <a:pt x="2504767" y="0"/>
                </a:lnTo>
                <a:lnTo>
                  <a:pt x="2504767" y="969554"/>
                </a:lnTo>
                <a:lnTo>
                  <a:pt x="0" y="96955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1323357" y="8376949"/>
            <a:ext cx="8438413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Quản lý tài khoản nhân viên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Thiết lập chức vụ và phân quyền chi tiết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Theo dõi hoạt động đăng nhập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Đảm bảo an toàn và bảo mật dữ liệu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0" t="0" r="-63003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2534316" y="5189366"/>
            <a:ext cx="8868516" cy="137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DEMO HỆ THỐNG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6" id="2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33" name="TextBox 32"/>
          <p:cNvSpPr txBox="1"/>
          <p:nvPr/>
        </p:nvSpPr>
        <p:spPr>
          <a:xfrm>
            <a:off x="1097280" y="32004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Hệ thống ViralWindow đã hoàn thiện với các chức năng chính:</a:t>
            </a:r>
            <a:br/>
            <a:br/>
            <a:r>
              <a:t>  ✔  Quản lý dự án &amp; tiến độ thi công</a:t>
            </a:r>
            <a:br/>
            <a:r>
              <a:t>  ✔  Lập và duyệt báo giá nhanh chóng</a:t>
            </a:r>
            <a:br/>
            <a:r>
              <a:t>  ✔  Quản lý kho vật tư thông minh</a:t>
            </a:r>
            <a:br/>
            <a:r>
              <a:t>  ✔  Phân quyền &amp; quản trị hệ thống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1740381" y="-1204989"/>
            <a:ext cx="7061442" cy="6238153"/>
          </a:xfrm>
          <a:custGeom>
            <a:avLst/>
            <a:gdLst/>
            <a:ahLst/>
            <a:cxnLst/>
            <a:rect r="r" b="b" t="t" l="l"/>
            <a:pathLst>
              <a:path h="6238153" w="7061442">
                <a:moveTo>
                  <a:pt x="0" y="0"/>
                </a:moveTo>
                <a:lnTo>
                  <a:pt x="7061442" y="0"/>
                </a:lnTo>
                <a:lnTo>
                  <a:pt x="7061442" y="6238152"/>
                </a:lnTo>
                <a:lnTo>
                  <a:pt x="0" y="62381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690480" y="1084469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0"/>
                </a:lnTo>
                <a:lnTo>
                  <a:pt x="0" y="2031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596821" y="764648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690480" y="-879996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5951102" y="70931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7041267" y="2222078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1740381" y="5033163"/>
            <a:ext cx="7061442" cy="6363840"/>
          </a:xfrm>
          <a:custGeom>
            <a:avLst/>
            <a:gdLst/>
            <a:ahLst/>
            <a:cxnLst/>
            <a:rect r="r" b="b" t="t" l="l"/>
            <a:pathLst>
              <a:path h="6363840" w="7061442">
                <a:moveTo>
                  <a:pt x="0" y="0"/>
                </a:moveTo>
                <a:lnTo>
                  <a:pt x="7061442" y="0"/>
                </a:lnTo>
                <a:lnTo>
                  <a:pt x="7061442" y="6363840"/>
                </a:lnTo>
                <a:lnTo>
                  <a:pt x="0" y="63638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886396" y="6992849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8"/>
                </a:lnTo>
                <a:lnTo>
                  <a:pt x="0" y="24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2089133" y="2277724"/>
            <a:ext cx="6363938" cy="5510879"/>
            <a:chOff x="0" y="0"/>
            <a:chExt cx="8485251" cy="73478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26"/>
              <a:stretch>
                <a:fillRect l="-7527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660" y="4420024"/>
            <a:ext cx="11002646" cy="275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11430">
                <a:solidFill>
                  <a:srgbClr val="2E66AF"/>
                </a:solidFill>
              </a:rPr>
              <a:t>KẾT QUẢ ĐẠT ĐƯỢC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9" name="TextBox 28"/>
          <p:cNvSpPr txBox="1"/>
          <p:nvPr/>
        </p:nvSpPr>
        <p:spPr>
          <a:xfrm>
            <a:off x="1371600" y="3200400"/>
            <a:ext cx="14630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Hoàn thành hệ thống quản lý tích hợp đầy đủ module</a:t>
            </a:r>
            <a:br/>
            <a:br/>
            <a:r>
              <a:t>• Đồng bộ thành công dữ liệu giữa Kinh doanh – Kho – Sản xuất</a:t>
            </a:r>
            <a:br/>
            <a:br/>
            <a:r>
              <a:t>• Giao diện trực quan, dễ sử dụng trên nhiều thiết bị</a:t>
            </a:r>
            <a:br/>
            <a:br/>
            <a:r>
              <a:t>• Hệ thống đã thử nghiệm với dữ liệu thực tế của xưởng</a:t>
            </a:r>
            <a:br/>
            <a:br/>
            <a:r>
              <a:t>• 127 test case – tỷ lệ pass 92%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29845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GIÁ TRỊ HỆ THỐNG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id="53" name="TextBox 52"/>
          <p:cNvSpPr txBox="1"/>
          <p:nvPr/>
        </p:nvSpPr>
        <p:spPr>
          <a:xfrm>
            <a:off x="1371600" y="32004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Giảm đáng kể sai sót do quản lý thủ công</a:t>
            </a:r>
            <a:br/>
            <a:br/>
            <a:r>
              <a:t>• Tiết kiệm thời gian lập báo giá và theo dõi dự án</a:t>
            </a:r>
            <a:br/>
            <a:br/>
            <a:r>
              <a:t>• Tăng hiệu quả phối hợp giữa các bộ phận</a:t>
            </a:r>
            <a:br/>
            <a:br/>
            <a:r>
              <a:t>• Hỗ trợ lãnh đạo ra quyết định dựa trên dữ liệu</a:t>
            </a:r>
            <a:br/>
            <a:br/>
            <a:r>
              <a:t>• Làm nền tảng chuyển đổi số cho doanh nghiệp nhỏ ngành nhôm kính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6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98009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998009" y="6853295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4"/>
                </a:lnTo>
                <a:lnTo>
                  <a:pt x="0" y="3266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59349" y="7604153"/>
            <a:ext cx="2837696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Tối ưu giao diện UI/UX, hỗ trợ Responsive trên di động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724" y="4902781"/>
            <a:ext cx="2742948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Triển khai thông báo realtime (Socket.io)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1820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81820" y="7020087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3197046" y="3866122"/>
            <a:ext cx="10800964" cy="5184463"/>
          </a:xfrm>
          <a:custGeom>
            <a:avLst/>
            <a:gdLst/>
            <a:ahLst/>
            <a:cxnLst/>
            <a:rect r="r" b="b" t="t" l="l"/>
            <a:pathLst>
              <a:path h="5184463" w="10800964">
                <a:moveTo>
                  <a:pt x="0" y="0"/>
                </a:moveTo>
                <a:lnTo>
                  <a:pt x="10800963" y="0"/>
                </a:lnTo>
                <a:lnTo>
                  <a:pt x="10800963" y="5184463"/>
                </a:lnTo>
                <a:lnTo>
                  <a:pt x="0" y="5184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27886" y="2727568"/>
            <a:ext cx="6112537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HƯỚNG PHÁT TRIỂN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59513" y="4804591"/>
            <a:ext cx="3388099" cy="131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Áp dụng AI/ML: Dự báo nhu cầu vật tư, dự đoán tiến độ thi công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59513" y="7480328"/>
            <a:ext cx="3335276" cy="8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Phát triển Mobile App cho nhân viên ngoài công trường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5" id="1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id="22" name="TextBox 21"/>
          <p:cNvSpPr txBox="1"/>
          <p:nvPr/>
        </p:nvSpPr>
        <p:spPr>
          <a:xfrm>
            <a:off x="3200400" y="8412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Tích hợp hóa đơn điện tử, thanh toán online và triển khai trên Cloud (VPS/Docker)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  <p:txBody>
          <a:bodyPr/>
          <a:p/>
        </p:txBody>
      </p:sp>
      <p:sp>
        <p:nvSpPr>
          <p:cNvPr name="TextBox 23" id="23"/>
          <p:cNvSpPr txBox="true"/>
          <p:nvPr/>
        </p:nvSpPr>
        <p:spPr>
          <a:xfrm rot="0">
            <a:off x="1129436" y="2458158"/>
            <a:ext cx="3446489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GIÁ TRỊ CỦA HỆ THỐNG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590659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5645">
                <a:solidFill>
                  <a:srgbClr val="FFFFFF"/>
                </a:solidFill>
              </a:rPr>
              <a:t>GIÁ TRỊ THỰC TIỄN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29845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GIÁ TRỊ HỆ THỐNG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id="53" name="TextBox 52"/>
          <p:cNvSpPr txBox="1"/>
          <p:nvPr/>
        </p:nvSpPr>
        <p:spPr>
          <a:xfrm>
            <a:off x="1133856" y="6217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• Hoàn thành hệ thống quản lý tích hợp đầy đủ module</a:t>
            </a:r>
            <a:br/>
            <a:r>
              <a:t>• Đồng bộ thành công dữ liệu giữa Kinh doanh – Kho – Sản xuất</a:t>
            </a:r>
            <a:br/>
            <a:r>
              <a:t>• Giao diện trực quan, dễ sử dụng trên nhiều thiết bị</a:t>
            </a:r>
            <a:br/>
            <a:r>
              <a:t>• Hệ thống đã thử nghiệm với dữ liệu thực tế của xưởng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" y="621792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• Giảm đáng kể sai sót do quản lý thủ công</a:t>
            </a:r>
            <a:br/>
            <a:r>
              <a:t>• Tiết kiệm thời gian lập báo giá và theo dõi dự án</a:t>
            </a:r>
            <a:br/>
            <a:r>
              <a:t>• Tăng hiệu quả phối hợp giữa các bộ phận</a:t>
            </a:r>
            <a:br/>
            <a:r>
              <a:t>• Hỗ trợ lãnh đạo ra quyết định dựa trên dữ liệu</a:t>
            </a:r>
            <a:br/>
            <a:r>
              <a:t>• Làm nền tảng chuyển đổi số cho doanh nghiệp nhỏ ngành nhôm kính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  <p:txBody>
          <a:bodyPr/>
          <a:p/>
        </p:txBody>
      </p:sp>
      <p:sp>
        <p:nvSpPr>
          <p:cNvPr name="TextBox 23" id="23"/>
          <p:cNvSpPr txBox="true"/>
          <p:nvPr/>
        </p:nvSpPr>
        <p:spPr>
          <a:xfrm rot="0">
            <a:off x="1129436" y="2458158"/>
            <a:ext cx="3446489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GIÁ TRỊ CỦA HỆ THỐNG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590659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5645">
                <a:solidFill>
                  <a:srgbClr val="FFFFFF"/>
                </a:solidFill>
              </a:rPr>
              <a:t>GIÁ TRỊ THỰC TIỄN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29845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GIÁ TRỊ HỆ THỐNG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id="53" name="TextBox 52"/>
          <p:cNvSpPr txBox="1"/>
          <p:nvPr/>
        </p:nvSpPr>
        <p:spPr>
          <a:xfrm>
            <a:off x="1133856" y="6217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• Hoàn thành hệ thống quản lý tích hợp đầy đủ module</a:t>
            </a:r>
            <a:br/>
            <a:r>
              <a:t>• Đồng bộ thành công dữ liệu giữa Kinh doanh – Kho – Sản xuất</a:t>
            </a:r>
            <a:br/>
            <a:r>
              <a:t>• Giao diện trực quan, dễ sử dụng trên nhiều thiết bị</a:t>
            </a:r>
            <a:br/>
            <a:r>
              <a:t>• Hệ thống đã thử nghiệm với dữ liệu thực tế của xưởng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" y="621792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• Giảm đáng kể sai sót do quản lý thủ công</a:t>
            </a:r>
            <a:br/>
            <a:r>
              <a:t>• Tiết kiệm thời gian lập báo giá và theo dõi dự án</a:t>
            </a:r>
            <a:br/>
            <a:r>
              <a:t>• Tăng hiệu quả phối hợp giữa các bộ phận</a:t>
            </a:r>
            <a:br/>
            <a:r>
              <a:t>• Hỗ trợ lãnh đạo ra quyết định dựa trên dữ liệu</a:t>
            </a:r>
            <a:br/>
            <a:r>
              <a:t>• Làm nền tảng chuyển đổi số cho doanh nghiệp nhỏ ngành nhôm kính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DAHJX4A2bes</dc:identifier>
  <dcterms:modified xsi:type="dcterms:W3CDTF">2011-08-01T06:04:30Z</dcterms:modified>
  <cp:revision>1</cp:revision>
  <dc:title>PPT_ĐỒ ÁN TỐT NGHIỆP</dc:title>
</cp:coreProperties>
</file>